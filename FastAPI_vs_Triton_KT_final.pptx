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vs NVIDIA Triton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D8D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Server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2578608"/>
            <a:ext cx="4572000" cy="36576"/>
          </a:xfrm>
          <a:prstGeom prst="rect">
            <a:avLst/>
          </a:prstGeom>
          <a:solidFill>
            <a:srgbClr val="5C6B75"/>
          </a:solidFill>
          <a:ln w="12700">
            <a:solidFill>
              <a:srgbClr val="5C6B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7432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Transfer Session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3337560"/>
            <a:ext cx="1828800" cy="384048"/>
          </a:xfrm>
          <a:prstGeom prst="rect">
            <a:avLst/>
          </a:prstGeom>
          <a:solidFill>
            <a:srgbClr val="36454F"/>
          </a:solidFill>
          <a:ln w="12700">
            <a:solidFill>
              <a:srgbClr val="5C6B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337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8DEE2"/>
                </a:solidFill>
              </a:rPr>
              <a:t>Architecture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3337560"/>
            <a:ext cx="1828800" cy="384048"/>
          </a:xfrm>
          <a:prstGeom prst="rect">
            <a:avLst/>
          </a:prstGeom>
          <a:solidFill>
            <a:srgbClr val="36454F"/>
          </a:solidFill>
          <a:ln w="12700">
            <a:solidFill>
              <a:srgbClr val="5C6B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3337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8DEE2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17720" y="3337560"/>
            <a:ext cx="1828800" cy="384048"/>
          </a:xfrm>
          <a:prstGeom prst="rect">
            <a:avLst/>
          </a:prstGeom>
          <a:solidFill>
            <a:srgbClr val="36454F"/>
          </a:solidFill>
          <a:ln w="12700">
            <a:solidFill>
              <a:srgbClr val="5C6B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3337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8DEE2"/>
                </a:solidFill>
              </a:rPr>
              <a:t>Use Cases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0" y="3337560"/>
            <a:ext cx="1828800" cy="384048"/>
          </a:xfrm>
          <a:prstGeom prst="rect">
            <a:avLst/>
          </a:prstGeom>
          <a:solidFill>
            <a:srgbClr val="36454F"/>
          </a:solidFill>
          <a:ln w="12700">
            <a:solidFill>
              <a:srgbClr val="5C6B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3337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8DEE2"/>
                </a:solidFill>
              </a:rPr>
              <a:t>Decision Guide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420624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C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inference layer for your ML system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64008" cy="56692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52144"/>
            <a:ext cx="384048" cy="38404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52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0972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are we solving?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362456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inference in production — challenges &amp; context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691640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691640"/>
            <a:ext cx="64008" cy="56692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792224"/>
            <a:ext cx="384048" cy="38404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17373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Overview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002536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strengths, ideal use cases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331720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331720"/>
            <a:ext cx="64008" cy="56692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432304"/>
            <a:ext cx="384048" cy="38404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23774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Triton Overview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2642616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model repository, performance features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971800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971800"/>
            <a:ext cx="64008" cy="56692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30175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Comparison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3282696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throughput, scaling, protocols, developer experience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611880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611880"/>
            <a:ext cx="64008" cy="56692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712464"/>
            <a:ext cx="384048" cy="38404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05840" y="36576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05840" y="3922776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what — real-world scenarios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251960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4251960"/>
            <a:ext cx="64008" cy="56692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352544"/>
            <a:ext cx="384048" cy="38404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352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05840" y="42976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/ Wrap-Up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05840" y="4562856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discussion and key takeaways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Problem: ML Inference in Production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2651760"/>
          </a:xfrm>
          <a:prstGeom prst="rect">
            <a:avLst/>
          </a:prstGeom>
          <a:solidFill>
            <a:srgbClr val="36454F"/>
          </a:solidFill>
          <a:ln w="12700">
            <a:solidFill>
              <a:srgbClr val="5C6B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54864"/>
          </a:xfrm>
          <a:prstGeom prst="rect">
            <a:avLst/>
          </a:prstGeom>
          <a:solidFill>
            <a:srgbClr val="D8DEE2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Latency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1480" y="219456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8DEE2"/>
                </a:solidFill>
              </a:rPr>
              <a:t>Models must respond in milliseconds. Cold-start, batching strategy, and hardware acceleration are critical.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43200" cy="2651760"/>
          </a:xfrm>
          <a:prstGeom prst="rect">
            <a:avLst/>
          </a:prstGeom>
          <a:solidFill>
            <a:srgbClr val="36454F"/>
          </a:solidFill>
          <a:ln w="12700">
            <a:solidFill>
              <a:srgbClr val="5C6B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05840"/>
            <a:ext cx="2743200" cy="54864"/>
          </a:xfrm>
          <a:prstGeom prst="rect">
            <a:avLst/>
          </a:prstGeom>
          <a:solidFill>
            <a:srgbClr val="D8DEE2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097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00400" y="17373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Throughput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337560" y="219456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8DEE2"/>
                </a:solidFill>
              </a:rPr>
              <a:t>Production traffic spikes require serving hundreds to thousands of requests per second efficiently.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743200" cy="2651760"/>
          </a:xfrm>
          <a:prstGeom prst="rect">
            <a:avLst/>
          </a:prstGeom>
          <a:solidFill>
            <a:srgbClr val="36454F"/>
          </a:solidFill>
          <a:ln w="12700">
            <a:solidFill>
              <a:srgbClr val="5C6B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05840"/>
            <a:ext cx="2743200" cy="54864"/>
          </a:xfrm>
          <a:prstGeom prst="rect">
            <a:avLst/>
          </a:prstGeom>
          <a:solidFill>
            <a:srgbClr val="D8DEE2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097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26480" y="17373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Complexity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63640" y="219456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8DEE2"/>
                </a:solidFill>
              </a:rPr>
              <a:t>Multiple model formats (PyTorch, TF, ONNX), hardware types (CPU/GPU), and deployment targets.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840480"/>
            <a:ext cx="8595360" cy="658368"/>
          </a:xfrm>
          <a:prstGeom prst="rect">
            <a:avLst/>
          </a:prstGeom>
          <a:solidFill>
            <a:srgbClr val="36454F"/>
          </a:solidFill>
          <a:ln w="12700">
            <a:solidFill>
              <a:srgbClr val="5C6B7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8404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Key Question:  Should we serve ML models with FastAPI or a dedicated inference server like NVIDIA Triton?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914400"/>
          </a:xfrm>
          <a:prstGeom prst="rect">
            <a:avLst/>
          </a:prstGeom>
          <a:solidFill>
            <a:srgbClr val="5C6B75"/>
          </a:solidFill>
          <a:ln w="12700">
            <a:solidFill>
              <a:srgbClr val="5C6B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FastAPI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0" y="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D8DEE2"/>
                </a:solidFill>
              </a:rPr>
              <a:t>Python Web Framework for APIs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4023360" cy="34747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24128"/>
            <a:ext cx="402336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WHAT IT 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128016" cy="12801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46304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Modern, high-performance Python web framework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002536"/>
            <a:ext cx="128016" cy="12801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89280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Built on Starlette (ASGI) + Pydantic for data validation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432304"/>
            <a:ext cx="128016" cy="12801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32257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Auto-generates OpenAPI / Swagger documentation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862072"/>
            <a:ext cx="128016" cy="12801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75234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First-class async/await support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291840"/>
            <a:ext cx="128016" cy="12801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18211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You write model loading &amp; inference logic manually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1024128"/>
            <a:ext cx="4114800" cy="34747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024128"/>
            <a:ext cx="411480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STRENGTHS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146304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454F"/>
                </a:solidFill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38928" y="146304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Familiar Python ecosystem — zero new tools to learn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1892808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454F"/>
                </a:solidFill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38928" y="189280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Flexible custom pre/post processing in pure Python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2322576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454F"/>
                </a:solidFill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38928" y="232257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Quick prototyping and fast iteration cycles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2752344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454F"/>
                </a:solidFill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38928" y="275234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Simple REST + JSON API design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0" y="3182112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454F"/>
                </a:solidFill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38928" y="318211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Easy integration with existing business logic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solidFill>
            <a:srgbClr val="D8DEE2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6454F"/>
                </a:solidFill>
              </a:rPr>
              <a:t>FastAPI is a general-purpose API framework — ML inference is just one of many use cases.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914400"/>
          </a:xfrm>
          <a:prstGeom prst="rect">
            <a:avLst/>
          </a:prstGeom>
          <a:solidFill>
            <a:srgbClr val="5C6B75"/>
          </a:solidFill>
          <a:ln w="12700">
            <a:solidFill>
              <a:srgbClr val="5C6B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NVIDIA Triton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0" y="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D8DEE2"/>
                </a:solidFill>
              </a:rPr>
              <a:t>Purpose-Built Inference Server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2743200" cy="34747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78992"/>
            <a:ext cx="274320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📦  Model Repository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481328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Filesystem-based model store. Supports multiple versions; auto-loads on startup.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078992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78992"/>
            <a:ext cx="2743200" cy="34747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078992"/>
            <a:ext cx="274320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🚀  Dynamic Batching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0128" y="1481328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Groups concurrent requests into batches to maximize GPU utilization and throughput.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078992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78992"/>
            <a:ext cx="2743200" cy="34747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078992"/>
            <a:ext cx="274320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⚙️  Multi-Backend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36208" y="1481328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TensorRT, ONNX Runtime, PyTorch TorchScript, TensorFlow, Python, OpenVINO.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862072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862072"/>
            <a:ext cx="2743200" cy="34747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862072"/>
            <a:ext cx="274320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📡  gRPC &amp; HTTP/2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4048" y="3264408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Native gRPC (high perf) + REST endpoints. Follows KServe v2 inference protocol.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2862072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2862072"/>
            <a:ext cx="2743200" cy="34747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2862072"/>
            <a:ext cx="274320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 Built-in Metrics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10128" y="3264408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Prometheus metrics: GPU utilization, queue depth, latency histograms out of the box.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2862072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2862072"/>
            <a:ext cx="2743200" cy="34747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2862072"/>
            <a:ext cx="274320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🔗  Model Ensembles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36208" y="3264408"/>
            <a:ext cx="2523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Chain models into a server-side pipeline — zero extra network hops.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Architecture Comparison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3931920" cy="365760"/>
          </a:xfrm>
          <a:prstGeom prst="rect">
            <a:avLst/>
          </a:prstGeom>
          <a:solidFill>
            <a:srgbClr val="5C6B75"/>
          </a:solidFill>
          <a:ln w="12700">
            <a:solidFill>
              <a:srgbClr val="5C6B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FastAPI Architecture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0" y="914400"/>
            <a:ext cx="3931920" cy="365760"/>
          </a:xfrm>
          <a:prstGeom prst="rect">
            <a:avLst/>
          </a:prstGeom>
          <a:solidFill>
            <a:srgbClr val="5C6B75"/>
          </a:solidFill>
          <a:ln w="12700">
            <a:solidFill>
              <a:srgbClr val="5C6B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Triton Architecture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383280" cy="502920"/>
          </a:xfrm>
          <a:prstGeom prst="rect">
            <a:avLst/>
          </a:prstGeom>
          <a:solidFill>
            <a:srgbClr val="36454F"/>
          </a:solidFill>
          <a:ln w="12700">
            <a:solidFill>
              <a:srgbClr val="5C6B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17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Client Request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938528"/>
            <a:ext cx="3383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9BA5"/>
                </a:solidFill>
              </a:rPr>
              <a:t>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039112"/>
            <a:ext cx="3383280" cy="502920"/>
          </a:xfrm>
          <a:prstGeom prst="rect">
            <a:avLst/>
          </a:prstGeom>
          <a:solidFill>
            <a:srgbClr val="36454F"/>
          </a:solidFill>
          <a:ln w="12700">
            <a:solidFill>
              <a:srgbClr val="5C6B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3911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FastAPI Router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560320"/>
            <a:ext cx="3383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9BA5"/>
                </a:solidFill>
              </a:rPr>
              <a:t>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660904"/>
            <a:ext cx="3383280" cy="502920"/>
          </a:xfrm>
          <a:prstGeom prst="rect">
            <a:avLst/>
          </a:prstGeom>
          <a:solidFill>
            <a:srgbClr val="36454F"/>
          </a:solidFill>
          <a:ln w="12700">
            <a:solidFill>
              <a:srgbClr val="5C6B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6090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Python Code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(load model, preprocess)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182112"/>
            <a:ext cx="3383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9BA5"/>
                </a:solidFill>
              </a:rPr>
              <a:t>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282696"/>
            <a:ext cx="3383280" cy="502920"/>
          </a:xfrm>
          <a:prstGeom prst="rect">
            <a:avLst/>
          </a:prstGeom>
          <a:solidFill>
            <a:srgbClr val="36454F"/>
          </a:solidFill>
          <a:ln w="12700">
            <a:solidFill>
              <a:srgbClr val="5C6B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8269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Model Inference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(manual)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803904"/>
            <a:ext cx="3383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9BA5"/>
                </a:solidFill>
              </a:rPr>
              <a:t>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904488"/>
            <a:ext cx="3383280" cy="502920"/>
          </a:xfrm>
          <a:prstGeom prst="rect">
            <a:avLst/>
          </a:prstGeom>
          <a:solidFill>
            <a:srgbClr val="36454F"/>
          </a:solidFill>
          <a:ln w="12700">
            <a:solidFill>
              <a:srgbClr val="5C6B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90448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JSON Response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03520" y="1417320"/>
            <a:ext cx="3383280" cy="502920"/>
          </a:xfrm>
          <a:prstGeom prst="rect">
            <a:avLst/>
          </a:prstGeom>
          <a:solidFill>
            <a:srgbClr val="36454F"/>
          </a:solidFill>
          <a:ln w="12700">
            <a:solidFill>
              <a:srgbClr val="5C6B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14173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Client (gRPC/REST)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0" y="1938528"/>
            <a:ext cx="3383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9BA5"/>
                </a:solidFill>
              </a:rPr>
              <a:t>▼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03520" y="2039112"/>
            <a:ext cx="3383280" cy="502920"/>
          </a:xfrm>
          <a:prstGeom prst="rect">
            <a:avLst/>
          </a:prstGeom>
          <a:solidFill>
            <a:srgbClr val="36454F"/>
          </a:solidFill>
          <a:ln w="12700">
            <a:solidFill>
              <a:srgbClr val="5C6B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0" y="203911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Triton Server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03520" y="2560320"/>
            <a:ext cx="3383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9BA5"/>
                </a:solidFill>
              </a:rPr>
              <a:t>▼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303520" y="2660904"/>
            <a:ext cx="3383280" cy="502920"/>
          </a:xfrm>
          <a:prstGeom prst="rect">
            <a:avLst/>
          </a:prstGeom>
          <a:solidFill>
            <a:srgbClr val="36454F"/>
          </a:solidFill>
          <a:ln w="12700">
            <a:solidFill>
              <a:srgbClr val="5C6B7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0" y="266090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Scheduler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Dynamic Batcher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03520" y="3182112"/>
            <a:ext cx="3383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9BA5"/>
                </a:solidFill>
              </a:rPr>
              <a:t>▼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03520" y="3282696"/>
            <a:ext cx="3383280" cy="502920"/>
          </a:xfrm>
          <a:prstGeom prst="rect">
            <a:avLst/>
          </a:prstGeom>
          <a:solidFill>
            <a:srgbClr val="36454F"/>
          </a:solidFill>
          <a:ln w="12700">
            <a:solidFill>
              <a:srgbClr val="5C6B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0" y="328269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Backend Runtime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(TensorRT, ONNX…)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0" y="3803904"/>
            <a:ext cx="33832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9BA5"/>
                </a:solidFill>
              </a:rPr>
              <a:t>▼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303520" y="3904488"/>
            <a:ext cx="3383280" cy="502920"/>
          </a:xfrm>
          <a:prstGeom prst="rect">
            <a:avLst/>
          </a:prstGeom>
          <a:solidFill>
            <a:srgbClr val="36454F"/>
          </a:solidFill>
          <a:ln w="12700">
            <a:solidFill>
              <a:srgbClr val="5C6B7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0" y="390448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Optimized Response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453128" y="914400"/>
            <a:ext cx="45720" cy="4114800"/>
          </a:xfrm>
          <a:prstGeom prst="rect">
            <a:avLst/>
          </a:prstGeom>
          <a:solidFill>
            <a:srgbClr val="5C6B75"/>
          </a:solidFill>
          <a:ln w="12700">
            <a:solidFill>
              <a:srgbClr val="5C6B75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Head-to-Head Comparison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1828800" cy="374904"/>
          </a:xfrm>
          <a:prstGeom prst="rect">
            <a:avLst/>
          </a:prstGeom>
          <a:solidFill>
            <a:srgbClr val="36454F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96112"/>
            <a:ext cx="1645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Criterion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48840" y="896112"/>
            <a:ext cx="2560320" cy="374904"/>
          </a:xfrm>
          <a:prstGeom prst="rect">
            <a:avLst/>
          </a:prstGeom>
          <a:solidFill>
            <a:srgbClr val="36454F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40280" y="896112"/>
            <a:ext cx="2377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FastAPI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896112"/>
            <a:ext cx="2560320" cy="374904"/>
          </a:xfrm>
          <a:prstGeom prst="rect">
            <a:avLst/>
          </a:prstGeom>
          <a:solidFill>
            <a:srgbClr val="36454F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896112"/>
            <a:ext cx="2377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NVIDIA Triton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60920" y="896112"/>
            <a:ext cx="1463040" cy="374904"/>
          </a:xfrm>
          <a:prstGeom prst="rect">
            <a:avLst/>
          </a:prstGeom>
          <a:solidFill>
            <a:srgbClr val="36454F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52360" y="896112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Winner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271016"/>
            <a:ext cx="18288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271016"/>
            <a:ext cx="1645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Primary Purpose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48840" y="1271016"/>
            <a:ext cx="25603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40280" y="1271016"/>
            <a:ext cx="2377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General REST API framework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271016"/>
            <a:ext cx="25603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271016"/>
            <a:ext cx="2377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Dedicated inference server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60920" y="1271016"/>
            <a:ext cx="1463040" cy="374904"/>
          </a:xfrm>
          <a:prstGeom prst="rect">
            <a:avLst/>
          </a:prstGeom>
          <a:solidFill>
            <a:srgbClr val="E8EAEC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52360" y="1271016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Triton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1645920"/>
            <a:ext cx="1828800" cy="374904"/>
          </a:xfrm>
          <a:prstGeom prst="rect">
            <a:avLst/>
          </a:prstGeom>
          <a:solidFill>
            <a:srgbClr val="EAECEE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645920"/>
            <a:ext cx="1645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Protocols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148840" y="1645920"/>
            <a:ext cx="2560320" cy="374904"/>
          </a:xfrm>
          <a:prstGeom prst="rect">
            <a:avLst/>
          </a:prstGeom>
          <a:solidFill>
            <a:srgbClr val="EAECEE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40280" y="1645920"/>
            <a:ext cx="2377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HTTP/REST only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1645920"/>
            <a:ext cx="2560320" cy="374904"/>
          </a:xfrm>
          <a:prstGeom prst="rect">
            <a:avLst/>
          </a:prstGeom>
          <a:solidFill>
            <a:srgbClr val="EAECEE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645920"/>
            <a:ext cx="2377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gRPC + HTTP/REST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60920" y="1645920"/>
            <a:ext cx="1463040" cy="374904"/>
          </a:xfrm>
          <a:prstGeom prst="rect">
            <a:avLst/>
          </a:prstGeom>
          <a:solidFill>
            <a:srgbClr val="D4D8DB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52360" y="1645920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Triton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2020824"/>
            <a:ext cx="18288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020824"/>
            <a:ext cx="1645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Dynamic Batching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148840" y="2020824"/>
            <a:ext cx="25603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40280" y="2020824"/>
            <a:ext cx="2377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Manual (custom code)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2020824"/>
            <a:ext cx="25603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020824"/>
            <a:ext cx="2377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Built-in &amp; automatic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60920" y="2020824"/>
            <a:ext cx="1463040" cy="374904"/>
          </a:xfrm>
          <a:prstGeom prst="rect">
            <a:avLst/>
          </a:prstGeom>
          <a:solidFill>
            <a:srgbClr val="E8EAEC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52360" y="2020824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Triton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2395728"/>
            <a:ext cx="1828800" cy="374904"/>
          </a:xfrm>
          <a:prstGeom prst="rect">
            <a:avLst/>
          </a:prstGeom>
          <a:solidFill>
            <a:srgbClr val="EAECEE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2395728"/>
            <a:ext cx="1645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GPU Acceleration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148840" y="2395728"/>
            <a:ext cx="2560320" cy="374904"/>
          </a:xfrm>
          <a:prstGeom prst="rect">
            <a:avLst/>
          </a:prstGeom>
          <a:solidFill>
            <a:srgbClr val="EAECEE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40280" y="2395728"/>
            <a:ext cx="2377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Manual (PyTorch/TF calls)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0" y="2395728"/>
            <a:ext cx="2560320" cy="374904"/>
          </a:xfrm>
          <a:prstGeom prst="rect">
            <a:avLst/>
          </a:prstGeom>
          <a:solidFill>
            <a:srgbClr val="EAECEE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2395728"/>
            <a:ext cx="2377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TensorRT, CUDA optimized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360920" y="2395728"/>
            <a:ext cx="1463040" cy="374904"/>
          </a:xfrm>
          <a:prstGeom prst="rect">
            <a:avLst/>
          </a:prstGeom>
          <a:solidFill>
            <a:srgbClr val="D4D8DB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52360" y="2395728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Triton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2770632"/>
            <a:ext cx="18288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2770632"/>
            <a:ext cx="1645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Model Formats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148840" y="2770632"/>
            <a:ext cx="25603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40280" y="2770632"/>
            <a:ext cx="2377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Any (Python loads it)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754880" y="2770632"/>
            <a:ext cx="25603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46320" y="2770632"/>
            <a:ext cx="2377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ONNX, TensorRT, TF, Torch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360920" y="2770632"/>
            <a:ext cx="1463040" cy="374904"/>
          </a:xfrm>
          <a:prstGeom prst="rect">
            <a:avLst/>
          </a:prstGeom>
          <a:solidFill>
            <a:srgbClr val="E8EAEC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52360" y="2770632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Tie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74320" y="3145536"/>
            <a:ext cx="1828800" cy="374904"/>
          </a:xfrm>
          <a:prstGeom prst="rect">
            <a:avLst/>
          </a:prstGeom>
          <a:solidFill>
            <a:srgbClr val="EAECEE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3145536"/>
            <a:ext cx="1645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Setup Complexity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148840" y="3145536"/>
            <a:ext cx="2560320" cy="374904"/>
          </a:xfrm>
          <a:prstGeom prst="rect">
            <a:avLst/>
          </a:prstGeom>
          <a:solidFill>
            <a:srgbClr val="EAECEE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40280" y="3145536"/>
            <a:ext cx="2377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Low — pip install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754880" y="3145536"/>
            <a:ext cx="2560320" cy="374904"/>
          </a:xfrm>
          <a:prstGeom prst="rect">
            <a:avLst/>
          </a:prstGeom>
          <a:solidFill>
            <a:srgbClr val="EAECEE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46320" y="3145536"/>
            <a:ext cx="2377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Higher — Docker/K8s ready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360920" y="3145536"/>
            <a:ext cx="1463040" cy="374904"/>
          </a:xfrm>
          <a:prstGeom prst="rect">
            <a:avLst/>
          </a:prstGeom>
          <a:solidFill>
            <a:srgbClr val="D4D8DB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52360" y="3145536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FastAPI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274320" y="3520440"/>
            <a:ext cx="18288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" y="3520440"/>
            <a:ext cx="1645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Metrics/Monitoring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148840" y="3520440"/>
            <a:ext cx="25603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240280" y="3520440"/>
            <a:ext cx="2377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Manual (Prometheus plugin)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754880" y="3520440"/>
            <a:ext cx="25603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46320" y="3520440"/>
            <a:ext cx="2377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Built-in Prometheus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360920" y="3520440"/>
            <a:ext cx="1463040" cy="374904"/>
          </a:xfrm>
          <a:prstGeom prst="rect">
            <a:avLst/>
          </a:prstGeom>
          <a:solidFill>
            <a:srgbClr val="E8EAEC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452360" y="3520440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Triton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74320" y="3895344"/>
            <a:ext cx="1828800" cy="374904"/>
          </a:xfrm>
          <a:prstGeom prst="rect">
            <a:avLst/>
          </a:prstGeom>
          <a:solidFill>
            <a:srgbClr val="EAECEE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5760" y="3895344"/>
            <a:ext cx="1645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Throughput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2148840" y="3895344"/>
            <a:ext cx="2560320" cy="374904"/>
          </a:xfrm>
          <a:prstGeom prst="rect">
            <a:avLst/>
          </a:prstGeom>
          <a:solidFill>
            <a:srgbClr val="EAECEE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240280" y="3895344"/>
            <a:ext cx="2377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Moderate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4754880" y="3895344"/>
            <a:ext cx="2560320" cy="374904"/>
          </a:xfrm>
          <a:prstGeom prst="rect">
            <a:avLst/>
          </a:prstGeom>
          <a:solidFill>
            <a:srgbClr val="EAECEE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846320" y="3895344"/>
            <a:ext cx="2377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Very High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7360920" y="3895344"/>
            <a:ext cx="1463040" cy="374904"/>
          </a:xfrm>
          <a:prstGeom prst="rect">
            <a:avLst/>
          </a:prstGeom>
          <a:solidFill>
            <a:srgbClr val="D4D8DB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452360" y="3895344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Triton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274320" y="4270248"/>
            <a:ext cx="18288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65760" y="4270248"/>
            <a:ext cx="1645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Latency (GPU)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2148840" y="4270248"/>
            <a:ext cx="25603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240280" y="4270248"/>
            <a:ext cx="2377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Higher overhead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4754880" y="4270248"/>
            <a:ext cx="25603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846320" y="4270248"/>
            <a:ext cx="2377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Optimized / sub-ms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7360920" y="4270248"/>
            <a:ext cx="1463040" cy="374904"/>
          </a:xfrm>
          <a:prstGeom prst="rect">
            <a:avLst/>
          </a:prstGeom>
          <a:solidFill>
            <a:srgbClr val="E8EAEC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452360" y="4270248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Triton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274320" y="4645152"/>
            <a:ext cx="1828800" cy="374904"/>
          </a:xfrm>
          <a:prstGeom prst="rect">
            <a:avLst/>
          </a:prstGeom>
          <a:solidFill>
            <a:srgbClr val="EAECEE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65760" y="4645152"/>
            <a:ext cx="1645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Developer Ease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2148840" y="4645152"/>
            <a:ext cx="2560320" cy="374904"/>
          </a:xfrm>
          <a:prstGeom prst="rect">
            <a:avLst/>
          </a:prstGeom>
          <a:solidFill>
            <a:srgbClr val="EAECEE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240280" y="4645152"/>
            <a:ext cx="2377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High — pure Python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4754880" y="4645152"/>
            <a:ext cx="2560320" cy="374904"/>
          </a:xfrm>
          <a:prstGeom prst="rect">
            <a:avLst/>
          </a:prstGeom>
          <a:solidFill>
            <a:srgbClr val="EAECEE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846320" y="4645152"/>
            <a:ext cx="23774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Medium — config-driven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7360920" y="4645152"/>
            <a:ext cx="1463040" cy="374904"/>
          </a:xfrm>
          <a:prstGeom prst="rect">
            <a:avLst/>
          </a:prstGeom>
          <a:solidFill>
            <a:srgbClr val="D4D8DB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452360" y="4645152"/>
            <a:ext cx="12801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FastAPI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Performance Deep Dive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29260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4114800" cy="2926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9BA5"/>
                </a:solidFill>
              </a:rPr>
              <a:t>RELATIVE THROUGHPUT (ResNet-50, GPU)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EE2"/>
                </a:solidFill>
              </a:rPr>
              <a:t>FastAPI + PyTorch (CPU)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3474720" cy="25603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45920"/>
            <a:ext cx="1216152" cy="256032"/>
          </a:xfrm>
          <a:prstGeom prst="rect">
            <a:avLst/>
          </a:prstGeom>
          <a:solidFill>
            <a:srgbClr val="8C9BA5"/>
          </a:solidFill>
          <a:ln w="12700">
            <a:solidFill>
              <a:srgbClr val="8C9B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46504" y="16459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DEE2"/>
                </a:solidFill>
              </a:rPr>
              <a:t>35%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20299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EE2"/>
                </a:solidFill>
              </a:rPr>
              <a:t>FastAPI + PyTorch (GPU)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04288"/>
            <a:ext cx="3474720" cy="25603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304288"/>
            <a:ext cx="2015338" cy="256032"/>
          </a:xfrm>
          <a:prstGeom prst="rect">
            <a:avLst/>
          </a:prstGeom>
          <a:solidFill>
            <a:srgbClr val="D8DEE2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5690" y="23042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DEE2"/>
                </a:solidFill>
              </a:rPr>
              <a:t>58%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26883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EE2"/>
                </a:solidFill>
              </a:rPr>
              <a:t>Triton + ONNX (GPU)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62656"/>
            <a:ext cx="3474720" cy="25603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62656"/>
            <a:ext cx="284927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79622" y="296265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DEE2"/>
                </a:solidFill>
              </a:rPr>
              <a:t>82%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33467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EE2"/>
                </a:solidFill>
              </a:rPr>
              <a:t>Triton + TensorRT (GPU)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621024"/>
            <a:ext cx="3474720" cy="25603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621024"/>
            <a:ext cx="340522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5578" y="36210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DEE2"/>
                </a:solidFill>
              </a:rPr>
              <a:t>98%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960120"/>
            <a:ext cx="4114800" cy="292608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960120"/>
            <a:ext cx="4114800" cy="29260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9BA5"/>
                </a:solidFill>
              </a:rPr>
              <a:t>KEY PERFORMANCE FACTORS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1371600"/>
            <a:ext cx="4114800" cy="841248"/>
          </a:xfrm>
          <a:prstGeom prst="rect">
            <a:avLst/>
          </a:prstGeom>
          <a:solidFill>
            <a:srgbClr val="36454F"/>
          </a:solidFill>
          <a:ln w="12700">
            <a:solidFill>
              <a:srgbClr val="5C6B7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1371600"/>
            <a:ext cx="54864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14264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Python GIL Overhead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19472" y="171907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EE2"/>
                </a:solidFill>
              </a:rPr>
              <a:t>FastAPI runs in Python — Global Interpreter Lock limits true parallelism for CPU-heavy inference.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304288"/>
            <a:ext cx="4114800" cy="841248"/>
          </a:xfrm>
          <a:prstGeom prst="rect">
            <a:avLst/>
          </a:prstGeom>
          <a:solidFill>
            <a:srgbClr val="36454F"/>
          </a:solidFill>
          <a:ln w="12700">
            <a:solidFill>
              <a:srgbClr val="5C6B7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2304288"/>
            <a:ext cx="54864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23591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TensorRT Optimization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19472" y="265176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EE2"/>
                </a:solidFill>
              </a:rPr>
              <a:t>Triton + TensorRT fuses layers, applies FP16/INT8 quantization — up to 10x speedup vs vanilla PyTorch.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236976"/>
            <a:ext cx="4114800" cy="841248"/>
          </a:xfrm>
          <a:prstGeom prst="rect">
            <a:avLst/>
          </a:prstGeom>
          <a:solidFill>
            <a:srgbClr val="36454F"/>
          </a:solidFill>
          <a:ln w="12700">
            <a:solidFill>
              <a:srgbClr val="5C6B7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236976"/>
            <a:ext cx="54864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2918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Dynamic Batching Impact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19472" y="358444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EE2"/>
                </a:solidFill>
              </a:rPr>
              <a:t>Triton batches concurrent requests in a configurable window — massively better GPU utilization.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4169664"/>
            <a:ext cx="4114800" cy="841248"/>
          </a:xfrm>
          <a:prstGeom prst="rect">
            <a:avLst/>
          </a:prstGeom>
          <a:solidFill>
            <a:srgbClr val="36454F"/>
          </a:solidFill>
          <a:ln w="12700">
            <a:solidFill>
              <a:srgbClr val="5C6B7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4169664"/>
            <a:ext cx="54864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9472" y="42245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Model Warmup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919472" y="451713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EE2"/>
                </a:solidFill>
              </a:rPr>
              <a:t>Triton pre-warms models on load. FastAPI models are lazy-loaded — cold start penalty per instance.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Framework: When to Use Which?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43891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4023360" cy="438912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Choose FastAPI When...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164592" cy="16459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5544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444752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Building a prototype or MVP quickly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975104"/>
            <a:ext cx="164592" cy="16459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97510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865376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Small-medium traffic (&lt; 100 req/s)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395728"/>
            <a:ext cx="164592" cy="16459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39572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286000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Model isn't the performance bottleneck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816352"/>
            <a:ext cx="164592" cy="16459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81635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2706624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Heavy custom pre/post-processing in Python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236976"/>
            <a:ext cx="164592" cy="16459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2369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3127248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Serving non-GPU (CPU-only) workloads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657600"/>
            <a:ext cx="164592" cy="16459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65760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" y="3547872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Team is Python-only, no MLOps infra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4078224"/>
            <a:ext cx="164592" cy="16459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0782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3968496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Mixed business logic + ML in one service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" y="4498848"/>
            <a:ext cx="164592" cy="16459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49884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" y="4389120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Internal tooling or low-scale endpoints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46320" y="914400"/>
            <a:ext cx="4023360" cy="43891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914400"/>
            <a:ext cx="4023360" cy="438912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Choose Triton When...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892040" y="1554480"/>
            <a:ext cx="164592" cy="16459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15544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66360" y="1444752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High throughput (100s–1000s req/s)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92040" y="1975104"/>
            <a:ext cx="164592" cy="16459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197510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66360" y="1865376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Low latency is a hard SLA requirement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92040" y="2395728"/>
            <a:ext cx="164592" cy="16459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239572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66360" y="2286000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GPU-accelerated inference (TensorRT)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892040" y="2816352"/>
            <a:ext cx="164592" cy="16459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281635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166360" y="2706624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Multiple models or ensemble pipelines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892040" y="3236976"/>
            <a:ext cx="164592" cy="16459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323697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166360" y="3127248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Serving ONNX, TensorRT, or multi-framework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892040" y="3657600"/>
            <a:ext cx="164592" cy="16459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365760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166360" y="3547872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Kubernetes + cloud-native deployment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892040" y="4078224"/>
            <a:ext cx="164592" cy="16459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92040" y="40782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166360" y="3968496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Need built-in metrics &amp; model versioning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892040" y="4498848"/>
            <a:ext cx="164592" cy="16459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92040" y="449884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166360" y="4389120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Production ML platform / MLOps maturity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544568" y="914400"/>
            <a:ext cx="45720" cy="4114800"/>
          </a:xfrm>
          <a:prstGeom prst="rect">
            <a:avLst/>
          </a:prstGeom>
          <a:solidFill>
            <a:srgbClr val="D8DEE2"/>
          </a:solidFill>
          <a:ln w="12700">
            <a:solidFill>
              <a:srgbClr val="D8DEE2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Hybrid Architecture — Best of Both Worlds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8DEE2"/>
                </a:solidFill>
              </a:rPr>
              <a:t>Many production systems use FastAPI as the API gateway and Triton as the backend inference engine.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" y="1463040"/>
            <a:ext cx="1645920" cy="914400"/>
          </a:xfrm>
          <a:prstGeom prst="rect">
            <a:avLst/>
          </a:prstGeom>
          <a:solidFill>
            <a:srgbClr val="36454F"/>
          </a:solidFill>
          <a:ln w="19050">
            <a:solidFill>
              <a:srgbClr val="5C6B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14630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Client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(Mobile / Web)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03120" y="1463040"/>
            <a:ext cx="1737360" cy="914400"/>
          </a:xfrm>
          <a:prstGeom prst="rect">
            <a:avLst/>
          </a:prstGeom>
          <a:solidFill>
            <a:srgbClr val="36454F"/>
          </a:solidFill>
          <a:ln w="19050">
            <a:solidFill>
              <a:srgbClr val="5C6B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03120" y="14630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FastAPI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Gateway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60520" y="1463040"/>
            <a:ext cx="1920240" cy="914400"/>
          </a:xfrm>
          <a:prstGeom prst="rect">
            <a:avLst/>
          </a:prstGeom>
          <a:solidFill>
            <a:srgbClr val="36454F"/>
          </a:solidFill>
          <a:ln w="19050">
            <a:solidFill>
              <a:srgbClr val="5C6B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60520" y="14630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Triton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Inference Server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1463040"/>
            <a:ext cx="2286000" cy="914400"/>
          </a:xfrm>
          <a:prstGeom prst="rect">
            <a:avLst/>
          </a:prstGeom>
          <a:solidFill>
            <a:srgbClr val="36454F"/>
          </a:solidFill>
          <a:ln w="19050">
            <a:solidFill>
              <a:srgbClr val="5C6B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1463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GPU Cluster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(TensorRT)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0" y="1920240"/>
            <a:ext cx="274320" cy="0"/>
          </a:xfrm>
          <a:prstGeom prst="line">
            <a:avLst/>
          </a:prstGeom>
          <a:noFill/>
          <a:ln w="25400">
            <a:solidFill>
              <a:srgbClr val="D8DE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29968" y="181051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2"/>
                </a:solidFill>
              </a:rPr>
              <a:t>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0" y="1920240"/>
            <a:ext cx="274320" cy="0"/>
          </a:xfrm>
          <a:prstGeom prst="line">
            <a:avLst/>
          </a:prstGeom>
          <a:noFill/>
          <a:ln w="25400">
            <a:solidFill>
              <a:srgbClr val="D8DE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41648" y="181051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2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1920240"/>
            <a:ext cx="274320" cy="0"/>
          </a:xfrm>
          <a:prstGeom prst="line">
            <a:avLst/>
          </a:prstGeom>
          <a:noFill/>
          <a:ln w="25400">
            <a:solidFill>
              <a:srgbClr val="D8DE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1928" y="181051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EE2"/>
                </a:solidFill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743200"/>
            <a:ext cx="4114800" cy="320040"/>
          </a:xfrm>
          <a:prstGeom prst="rect">
            <a:avLst/>
          </a:prstGeom>
          <a:solidFill>
            <a:srgbClr val="5C6B75"/>
          </a:solidFill>
          <a:ln w="12700">
            <a:solidFill>
              <a:srgbClr val="5C6B7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743200"/>
            <a:ext cx="411480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FastAPI Handles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1272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EE2"/>
                </a:solidFill>
              </a:rPr>
              <a:t>• Auth &amp; API key validation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429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EE2"/>
                </a:solidFill>
              </a:rPr>
              <a:t>• Request routing &amp; rate limiting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7307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EE2"/>
                </a:solidFill>
              </a:rPr>
              <a:t>• Business logic &amp; response formatting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743200"/>
            <a:ext cx="4114800" cy="320040"/>
          </a:xfrm>
          <a:prstGeom prst="rect">
            <a:avLst/>
          </a:prstGeom>
          <a:solidFill>
            <a:srgbClr val="5C6B75"/>
          </a:solidFill>
          <a:ln w="12700">
            <a:solidFill>
              <a:srgbClr val="5C6B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743200"/>
            <a:ext cx="4114800" cy="320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Triton Handles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31272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EE2"/>
                </a:solidFill>
              </a:rPr>
              <a:t>• Model loading &amp; versioning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3429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EE2"/>
                </a:solidFill>
              </a:rPr>
              <a:t>• Dynamic batching &amp; GPU scheduling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37307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DEE2"/>
                </a:solidFill>
              </a:rPr>
              <a:t>• TensorRT inference &amp; metrics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44568" y="2743200"/>
            <a:ext cx="45720" cy="1371600"/>
          </a:xfrm>
          <a:prstGeom prst="rect">
            <a:avLst/>
          </a:prstGeom>
          <a:solidFill>
            <a:srgbClr val="5C6B75"/>
          </a:solidFill>
          <a:ln w="12700">
            <a:solidFill>
              <a:srgbClr val="5C6B75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Code Comparison — Serving a Model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3931920" cy="34747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96112"/>
            <a:ext cx="393192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FastAPI (main.py)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3931920" cy="3520440"/>
          </a:xfrm>
          <a:prstGeom prst="rect">
            <a:avLst/>
          </a:prstGeom>
          <a:solidFill>
            <a:srgbClr val="111111"/>
          </a:solidFill>
          <a:ln w="12700">
            <a:solidFill>
              <a:srgbClr val="5C6B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53312"/>
            <a:ext cx="3657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 import FastAPI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torch, numpy as np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FastAPI()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torch.load("model.pt")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model.eval()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@app.post("/predict")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predict(data: dict):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tensor = preprocess(data["input"])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torch.no_grad():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output = model(tensor)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{"result": output.tolist()}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896112"/>
            <a:ext cx="4114800" cy="34747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896112"/>
            <a:ext cx="411480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Triton (config.pbtxt)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4114800" cy="3520440"/>
          </a:xfrm>
          <a:prstGeom prst="rect">
            <a:avLst/>
          </a:prstGeom>
          <a:solidFill>
            <a:srgbClr val="111111"/>
          </a:solidFill>
          <a:ln w="12700">
            <a:solidFill>
              <a:srgbClr val="5C6B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353312"/>
            <a:ext cx="3840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"resnet50"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backend: "onnxruntime"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max_batch_size: 64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[{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"input"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data_type: TYPE_FP32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dims: [3, 224, 224]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[{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"output"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data_type: TYPE_FP32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dims: [1000]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dynamic_batching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preferred_batch_size: [16, 32]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max_queue_delay_microseconds: 100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solidFill>
            <a:srgbClr val="D8DEE2"/>
          </a:solidFill>
          <a:ln w="12700">
            <a:solidFill>
              <a:srgbClr val="D8D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6454F"/>
                </a:solidFill>
              </a:rPr>
              <a:t>Triton requires no Python inference code — the backend engine handles everything from config alone.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737360"/>
          </a:xfrm>
          <a:prstGeom prst="rect">
            <a:avLst/>
          </a:prstGeom>
          <a:solidFill>
            <a:srgbClr val="36454F"/>
          </a:solidFill>
          <a:ln w="12700">
            <a:solidFill>
              <a:srgbClr val="5C6B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685800" cy="1737360"/>
          </a:xfrm>
          <a:prstGeom prst="rect">
            <a:avLst/>
          </a:prstGeom>
          <a:solidFill>
            <a:srgbClr val="5C6B75"/>
          </a:solidFill>
          <a:ln w="12700">
            <a:solidFill>
              <a:srgbClr val="5C6B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685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120700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Different tools, different jobs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664208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EE2"/>
                </a:solidFill>
              </a:rPr>
              <a:t>FastAPI is a general API framework; Triton is purpose-built for ML inference. Neither replaces the other.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1737360"/>
          </a:xfrm>
          <a:prstGeom prst="rect">
            <a:avLst/>
          </a:prstGeom>
          <a:solidFill>
            <a:srgbClr val="36454F"/>
          </a:solidFill>
          <a:ln w="12700">
            <a:solidFill>
              <a:srgbClr val="5C6B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685800" cy="1737360"/>
          </a:xfrm>
          <a:prstGeom prst="rect">
            <a:avLst/>
          </a:prstGeom>
          <a:solidFill>
            <a:srgbClr val="5C6B75"/>
          </a:solidFill>
          <a:ln w="12700">
            <a:solidFill>
              <a:srgbClr val="5C6B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05840"/>
            <a:ext cx="685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577840" y="120700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Performance gap is real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77840" y="1664208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EE2"/>
                </a:solidFill>
              </a:rPr>
              <a:t>Triton with TensorRT can deliver 5–10x higher throughput and lower latency vs FastAPI at scale.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944368"/>
            <a:ext cx="4114800" cy="1737360"/>
          </a:xfrm>
          <a:prstGeom prst="rect">
            <a:avLst/>
          </a:prstGeom>
          <a:solidFill>
            <a:srgbClr val="36454F"/>
          </a:solidFill>
          <a:ln w="12700">
            <a:solidFill>
              <a:srgbClr val="5C6B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44368"/>
            <a:ext cx="685800" cy="1737360"/>
          </a:xfrm>
          <a:prstGeom prst="rect">
            <a:avLst/>
          </a:prstGeom>
          <a:solidFill>
            <a:srgbClr val="5C6B75"/>
          </a:solidFill>
          <a:ln w="12700">
            <a:solidFill>
              <a:srgbClr val="5C6B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944368"/>
            <a:ext cx="685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97280" y="3145536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Maturity matters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602736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EE2"/>
                </a:solidFill>
              </a:rPr>
              <a:t>FastAPI for early-stage / prototyping. Triton when you need production-grade performance and observability.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944368"/>
            <a:ext cx="4114800" cy="1737360"/>
          </a:xfrm>
          <a:prstGeom prst="rect">
            <a:avLst/>
          </a:prstGeom>
          <a:solidFill>
            <a:srgbClr val="36454F"/>
          </a:solidFill>
          <a:ln w="12700">
            <a:solidFill>
              <a:srgbClr val="5C6B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944368"/>
            <a:ext cx="685800" cy="1737360"/>
          </a:xfrm>
          <a:prstGeom prst="rect">
            <a:avLst/>
          </a:prstGeom>
          <a:solidFill>
            <a:srgbClr val="5C6B75"/>
          </a:solidFill>
          <a:ln w="12700">
            <a:solidFill>
              <a:srgbClr val="5C6B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944368"/>
            <a:ext cx="685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577840" y="3145536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Hybrid is powerful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77840" y="3602736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EE2"/>
                </a:solidFill>
              </a:rPr>
              <a:t>FastAPI as the user-facing API layer + Triton as the inference backend — best of both worlds.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solidFill>
            <a:srgbClr val="36454F"/>
          </a:solidFill>
          <a:ln w="12700">
            <a:solidFill>
              <a:srgbClr val="5C6B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9BA5"/>
                </a:solidFill>
              </a:rPr>
              <a:t>Questions?  →  Reach out for architecture review or model deployment guidance.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FastAPI vs NVIDIA Triton Inference Server - KT Session</dc:title>
  <dc:subject>PptxGenJS Presentation</dc:subject>
  <dc:creator>PptxGenJS</dc:creator>
  <cp:lastModifiedBy>PptxGenJS</cp:lastModifiedBy>
  <cp:revision>1</cp:revision>
  <dcterms:created xsi:type="dcterms:W3CDTF">2026-04-15T07:53:03Z</dcterms:created>
  <dcterms:modified xsi:type="dcterms:W3CDTF">2026-04-15T07:53:03Z</dcterms:modified>
</cp:coreProperties>
</file>